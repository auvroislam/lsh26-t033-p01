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C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2834640"/>
            <a:ext cx="1581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Poppins"/>
              </a:rPr>
              <a:t>LOFISTACK HACKATHON 2026   ·   PROBLEM 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3474720"/>
            <a:ext cx="14173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400" b="1">
                <a:solidFill>
                  <a:srgbClr val="111111"/>
                </a:solidFill>
                <a:latin typeface="Poppins"/>
              </a:rPr>
              <a:t>Load-Shedding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400" b="1">
                <a:solidFill>
                  <a:srgbClr val="111111"/>
                </a:solidFill>
                <a:latin typeface="Poppins"/>
              </a:rPr>
              <a:t>Window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6949440"/>
            <a:ext cx="2743200" cy="1463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7406640"/>
            <a:ext cx="11887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Team Logarithm</a:t>
            </a:r>
            <a:r>
              <a:rPr sz="2000" b="0">
                <a:solidFill>
                  <a:srgbClr val="111111"/>
                </a:solidFill>
                <a:latin typeface="Poppins"/>
              </a:rPr>
              <a:t>   ·   LSH26-T033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Poppins"/>
              </a:rPr>
              <a:t>Oitijya Islam Auvro  ·  Md. Nafiz Ahmed  ·  Dewan Salman Rahman Zisan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Load shedding wastes the working 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87782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800"/>
              </a:spcAft>
            </a:pPr>
            <a:r>
              <a:rPr sz="2200" b="0">
                <a:solidFill>
                  <a:srgbClr val="5D6880"/>
                </a:solidFill>
                <a:latin typeface="Poppins"/>
              </a:rPr>
              <a:t>A print shop runs on machines that need </a:t>
            </a:r>
            <a:r>
              <a:rPr sz="2200" b="1">
                <a:solidFill>
                  <a:srgbClr val="8A5D05"/>
                </a:solidFill>
                <a:latin typeface="Poppins"/>
              </a:rPr>
              <a:t>mains power</a:t>
            </a:r>
            <a:r>
              <a:rPr sz="2200" b="0">
                <a:solidFill>
                  <a:srgbClr val="5D6880"/>
                </a:solidFill>
                <a:latin typeface="Poppins"/>
              </a:rPr>
              <a:t>. When the grid goes down mid-job, the work is </a:t>
            </a:r>
            <a:r>
              <a:rPr sz="2200" b="1">
                <a:solidFill>
                  <a:srgbClr val="5D6880"/>
                </a:solidFill>
                <a:latin typeface="Poppins"/>
              </a:rPr>
              <a:t>lost</a:t>
            </a:r>
            <a:r>
              <a:rPr sz="2200" b="0">
                <a:solidFill>
                  <a:srgbClr val="5D6880"/>
                </a:solidFill>
                <a:latin typeface="Poppins"/>
              </a:rPr>
              <a:t> — paper wasted, deadline missed, customer waiting.</a:t>
            </a:r>
          </a:p>
          <a:p>
            <a:pPr algn="l">
              <a:lnSpc>
                <a:spcPct val="145000"/>
              </a:lnSpc>
              <a:spcAft>
                <a:spcPts val="1800"/>
              </a:spcAft>
            </a:pPr>
            <a:r>
              <a:rPr sz="2200" b="0">
                <a:solidFill>
                  <a:srgbClr val="5D6880"/>
                </a:solidFill>
                <a:latin typeface="Poppins"/>
              </a:rPr>
              <a:t>Cuts are announced in advance. The information is there. What is missing is a way to </a:t>
            </a:r>
            <a:r>
              <a:rPr sz="2200" b="1">
                <a:solidFill>
                  <a:srgbClr val="8A5D05"/>
                </a:solidFill>
                <a:latin typeface="Poppins"/>
              </a:rPr>
              <a:t>plan the day around them</a:t>
            </a:r>
            <a:r>
              <a:rPr sz="22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7080" y="3108960"/>
            <a:ext cx="3291840" cy="2743200"/>
          </a:xfrm>
          <a:prstGeom prst="roundRect">
            <a:avLst>
              <a:gd name="adj" fmla="val 8000"/>
            </a:avLst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311128" y="3456432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Poppins"/>
              </a:rP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1128" y="4983480"/>
            <a:ext cx="25237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Poppins"/>
              </a:rPr>
              <a:t>power cuts on an average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538960" y="3108960"/>
            <a:ext cx="32918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923008" y="3456432"/>
            <a:ext cx="252374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Poppins"/>
              </a:rPr>
              <a:t>4.0h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23008" y="4983480"/>
            <a:ext cx="25237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5D6880"/>
                </a:solidFill>
                <a:latin typeface="Poppins"/>
              </a:rPr>
              <a:t>of the day with no grid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27080" y="6126480"/>
            <a:ext cx="6903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311128" y="6473952"/>
            <a:ext cx="61356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Poppins"/>
              </a:rPr>
              <a:t>263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11128" y="7635240"/>
            <a:ext cx="61356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5D6880"/>
                </a:solidFill>
                <a:latin typeface="Poppins"/>
              </a:rPr>
              <a:t>jobs across the 25 published cases we tested against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02  ·  WHAT THE PROBLEM ASKS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Four required items.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3108960"/>
            <a:ext cx="378333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ad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349300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8488" y="4434840"/>
            <a:ext cx="301523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Enter the cuts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5394960"/>
            <a:ext cx="3015234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Start and end time for each announced cut, drawn on a </a:t>
            </a:r>
            <a:r>
              <a:rPr sz="1600" b="1">
                <a:solidFill>
                  <a:srgbClr val="8A5D05"/>
                </a:solidFill>
                <a:latin typeface="Poppins"/>
              </a:rPr>
              <a:t>24-hour timeline</a:t>
            </a:r>
            <a:r>
              <a:rPr sz="16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6370" y="3108960"/>
            <a:ext cx="378333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ad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418" y="349300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30418" y="4434840"/>
            <a:ext cx="301523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Add the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0418" y="5394960"/>
            <a:ext cx="3015234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Name, duration, and what power it needs: </a:t>
            </a:r>
            <a:r>
              <a:rPr sz="1600" b="1">
                <a:solidFill>
                  <a:srgbClr val="8A5D05"/>
                </a:solidFill>
                <a:latin typeface="Poppins"/>
              </a:rPr>
              <a:t>grid</a:t>
            </a:r>
            <a:r>
              <a:rPr sz="1600" b="0">
                <a:solidFill>
                  <a:srgbClr val="5D6880"/>
                </a:solidFill>
                <a:latin typeface="Poppins"/>
              </a:rPr>
              <a:t>, </a:t>
            </a:r>
            <a:r>
              <a:rPr sz="1600" b="1">
                <a:solidFill>
                  <a:srgbClr val="8A5D05"/>
                </a:solidFill>
                <a:latin typeface="Poppins"/>
              </a:rPr>
              <a:t>generator</a:t>
            </a:r>
            <a:r>
              <a:rPr sz="1600" b="0">
                <a:solidFill>
                  <a:srgbClr val="5D6880"/>
                </a:solidFill>
                <a:latin typeface="Poppins"/>
              </a:rPr>
              <a:t> or </a:t>
            </a:r>
            <a:r>
              <a:rPr sz="1600" b="1">
                <a:solidFill>
                  <a:srgbClr val="8A5D05"/>
                </a:solidFill>
                <a:latin typeface="Poppins"/>
              </a:rPr>
              <a:t>none</a:t>
            </a:r>
            <a:r>
              <a:rPr sz="16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8300" y="3108960"/>
            <a:ext cx="378333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ad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2348" y="3493008"/>
            <a:ext cx="713232" cy="713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42348" y="4434840"/>
            <a:ext cx="301523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Place them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2348" y="5394960"/>
            <a:ext cx="3015234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No job needing grid power may </a:t>
            </a:r>
            <a:r>
              <a:rPr sz="1600" b="1">
                <a:solidFill>
                  <a:srgbClr val="5D6880"/>
                </a:solidFill>
                <a:latin typeface="Poppins"/>
              </a:rPr>
              <a:t>ever</a:t>
            </a:r>
            <a:r>
              <a:rPr sz="1600" b="0">
                <a:solidFill>
                  <a:srgbClr val="5D6880"/>
                </a:solidFill>
                <a:latin typeface="Poppins"/>
              </a:rPr>
              <a:t> land inside a cut. Plan shown beside the cut bars.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70230" y="3108960"/>
            <a:ext cx="378333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ad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4278" y="3493008"/>
            <a:ext cx="713232" cy="7132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654278" y="4434840"/>
            <a:ext cx="301523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Count generator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54278" y="5394960"/>
            <a:ext cx="3015234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The total the plan needs, updating the </a:t>
            </a:r>
            <a:r>
              <a:rPr sz="1600" b="1">
                <a:solidFill>
                  <a:srgbClr val="8A5D05"/>
                </a:solidFill>
                <a:latin typeface="Poppins"/>
              </a:rPr>
              <a:t>moment</a:t>
            </a:r>
            <a:r>
              <a:rPr sz="1600" b="0">
                <a:solidFill>
                  <a:srgbClr val="5D6880"/>
                </a:solidFill>
                <a:latin typeface="Poppins"/>
              </a:rPr>
              <a:t> a job is added or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03  ·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One screen. The whole day.</a:t>
            </a:r>
          </a:p>
        </p:txBody>
      </p:sp>
      <p:pic>
        <p:nvPicPr>
          <p:cNvPr id="4" name="Picture 3" descr="frame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10607040" cy="6274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15800" y="3017520"/>
            <a:ext cx="49377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Cuts on top. The plan directly beneath, on the </a:t>
            </a:r>
            <a:r>
              <a:rPr sz="1900" b="1">
                <a:solidFill>
                  <a:srgbClr val="8A5D05"/>
                </a:solidFill>
                <a:latin typeface="Poppins"/>
              </a:rPr>
              <a:t>same scale</a:t>
            </a:r>
            <a:r>
              <a:rPr sz="1900" b="0">
                <a:solidFill>
                  <a:srgbClr val="5D6880"/>
                </a:solidFill>
                <a:latin typeface="Poppins"/>
              </a:rPr>
              <a:t> — so a judge can see at a glance that no blue grid job touches a red cut.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Amber marks the minutes a job actually spends </a:t>
            </a:r>
            <a:r>
              <a:rPr sz="1900" b="1">
                <a:solidFill>
                  <a:srgbClr val="8A5D05"/>
                </a:solidFill>
                <a:latin typeface="Poppins"/>
              </a:rPr>
              <a:t>on the generator</a:t>
            </a:r>
            <a:r>
              <a:rPr sz="1900" b="0">
                <a:solidFill>
                  <a:srgbClr val="5D6880"/>
                </a:solidFill>
                <a:latin typeface="Poppins"/>
              </a:rPr>
              <a:t>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Every placement carries a one-line reason in plain English.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1">
                <a:solidFill>
                  <a:srgbClr val="5D6880"/>
                </a:solidFill>
                <a:latin typeface="Poppins"/>
              </a:rPr>
              <a:t>No login. No database. No API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04  ·  HOW THE PLAN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Most-constrained first.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3108960"/>
            <a:ext cx="5090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adge-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3493008"/>
            <a:ext cx="713232" cy="713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8488" y="4434840"/>
            <a:ext cx="4322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Grid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5394960"/>
            <a:ext cx="43220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Cut-free space only. A </a:t>
            </a:r>
            <a:r>
              <a:rPr sz="1600" b="1">
                <a:solidFill>
                  <a:srgbClr val="8A5D05"/>
                </a:solidFill>
                <a:latin typeface="Poppins"/>
              </a:rPr>
              <a:t>hard rule</a:t>
            </a:r>
            <a:r>
              <a:rPr sz="1600" b="0">
                <a:solidFill>
                  <a:srgbClr val="5D6880"/>
                </a:solidFill>
                <a:latin typeface="Poppins"/>
              </a:rPr>
              <a:t> — if no gap is long enough the job is reported, never placed illegally.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920" y="3108960"/>
            <a:ext cx="5090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adge-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968" y="3493008"/>
            <a:ext cx="713232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82968" y="4434840"/>
            <a:ext cx="4322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Generator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2968" y="5394960"/>
            <a:ext cx="43220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The slot costing the </a:t>
            </a:r>
            <a:r>
              <a:rPr sz="1600" b="1">
                <a:solidFill>
                  <a:srgbClr val="8A5D05"/>
                </a:solidFill>
                <a:latin typeface="Poppins"/>
              </a:rPr>
              <a:t>fewest generator minutes</a:t>
            </a:r>
            <a:r>
              <a:rPr sz="1600" b="0">
                <a:solidFill>
                  <a:srgbClr val="5D6880"/>
                </a:solidFill>
                <a:latin typeface="Poppins"/>
              </a:rPr>
              <a:t>, not simply the earliest — because that cost is exactly what R4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63400" y="3108960"/>
            <a:ext cx="5090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adge-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7448" y="3493008"/>
            <a:ext cx="713232" cy="713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7448" y="4434840"/>
            <a:ext cx="4322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No-power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7448" y="5394960"/>
            <a:ext cx="43220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Parked </a:t>
            </a:r>
            <a:r>
              <a:rPr sz="1600" b="1">
                <a:solidFill>
                  <a:srgbClr val="5D6880"/>
                </a:solidFill>
                <a:latin typeface="Poppins"/>
              </a:rPr>
              <a:t>inside</a:t>
            </a:r>
            <a:r>
              <a:rPr sz="1600" b="0">
                <a:solidFill>
                  <a:srgbClr val="5D6880"/>
                </a:solidFill>
                <a:latin typeface="Poppins"/>
              </a:rPr>
              <a:t> the cuts on purpose. A cut costs them nothing, which keeps scarce cut-free time for the 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8275320"/>
            <a:ext cx="1581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D6880"/>
                </a:solidFill>
                <a:latin typeface="Poppins"/>
              </a:rPr>
              <a:t>Within each group: </a:t>
            </a:r>
            <a:r>
              <a:rPr sz="2000" b="1">
                <a:solidFill>
                  <a:srgbClr val="8A5D05"/>
                </a:solidFill>
                <a:latin typeface="Poppins"/>
              </a:rPr>
              <a:t>rush orders first</a:t>
            </a:r>
            <a:r>
              <a:rPr sz="2000" b="0">
                <a:solidFill>
                  <a:srgbClr val="5D6880"/>
                </a:solidFill>
                <a:latin typeface="Poppins"/>
              </a:rPr>
              <a:t>, then </a:t>
            </a:r>
            <a:r>
              <a:rPr sz="2000" b="1">
                <a:solidFill>
                  <a:srgbClr val="8A5D05"/>
                </a:solidFill>
                <a:latin typeface="Poppins"/>
              </a:rPr>
              <a:t>earliest promised time</a:t>
            </a:r>
            <a:r>
              <a:rPr sz="2000" b="0">
                <a:solidFill>
                  <a:srgbClr val="5D6880"/>
                </a:solidFill>
                <a:latin typeface="Poppins"/>
              </a:rPr>
              <a:t>, then longest. The result is </a:t>
            </a:r>
            <a:r>
              <a:rPr sz="2000" b="1">
                <a:solidFill>
                  <a:srgbClr val="5D6880"/>
                </a:solidFill>
                <a:latin typeface="Poppins"/>
              </a:rPr>
              <a:t>deterministic</a:t>
            </a:r>
            <a:r>
              <a:rPr sz="2000" b="0">
                <a:solidFill>
                  <a:srgbClr val="5D6880"/>
                </a:solidFill>
                <a:latin typeface="Poppins"/>
              </a:rPr>
              <a:t> — the same input always gives the same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05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The rules are not in the interface.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3154680"/>
            <a:ext cx="5090160" cy="3931920"/>
          </a:xfrm>
          <a:prstGeom prst="roundRect">
            <a:avLst>
              <a:gd name="adj" fmla="val 8000"/>
            </a:avLst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91640" y="3520440"/>
            <a:ext cx="4175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Poppins"/>
              </a:rPr>
              <a:t>src/domain/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20624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Poppins"/>
              </a:rPr>
              <a:t>Pure TypeScript. No React.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4937760"/>
            <a:ext cx="4175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111111"/>
                </a:solidFill>
                <a:latin typeface="Poppins"/>
              </a:rPr>
              <a:t>time · intervals · schedule · fixture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111111"/>
                </a:solidFill>
                <a:latin typeface="Poppins"/>
              </a:rPr>
              <a:t>Every rule lives here, so it can be tested directly and read without running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920" y="3154680"/>
            <a:ext cx="5090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56120" y="3520440"/>
            <a:ext cx="4175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Poppins"/>
              </a:rPr>
              <a:t>src/components/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6120" y="420624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5D6880"/>
                </a:solidFill>
                <a:latin typeface="Poppins"/>
              </a:rPr>
              <a:t>React, presentation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6120" y="4937760"/>
            <a:ext cx="4175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Timeline · Inputs · PlanPanel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5D6880"/>
                </a:solidFill>
                <a:latin typeface="Poppins"/>
              </a:rPr>
              <a:t>Holds cuts, jobs and hours. Nothing else.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963400" y="3154680"/>
            <a:ext cx="509016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420600" y="3520440"/>
            <a:ext cx="4175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111111"/>
                </a:solidFill>
                <a:latin typeface="Poppins"/>
              </a:rPr>
              <a:t>The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20600" y="4206240"/>
            <a:ext cx="417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5D6880"/>
                </a:solidFill>
                <a:latin typeface="Poppins"/>
              </a:rPr>
              <a:t>Derived, never stored.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20600" y="4937760"/>
            <a:ext cx="4175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buildPlan(state) on every render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0">
                <a:solidFill>
                  <a:srgbClr val="5D6880"/>
                </a:solidFill>
                <a:latin typeface="Poppins"/>
              </a:rPr>
              <a:t>There is no second copy of the generator total to go stale — R4 cannot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06  ·  BEYOND THE FOUR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Built for a real shop.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234440" y="3154680"/>
            <a:ext cx="378333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645920" y="3611880"/>
            <a:ext cx="822960" cy="128016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45920" y="4069080"/>
            <a:ext cx="29603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Poppins"/>
              </a:rPr>
              <a:t>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296037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The shop runs </a:t>
            </a:r>
            <a:r>
              <a:rPr sz="1600" b="1">
                <a:solidFill>
                  <a:srgbClr val="8A5D05"/>
                </a:solidFill>
                <a:latin typeface="Poppins"/>
              </a:rPr>
              <a:t>more than one</a:t>
            </a:r>
            <a:r>
              <a:rPr sz="1600" b="0">
                <a:solidFill>
                  <a:srgbClr val="5D6880"/>
                </a:solidFill>
                <a:latin typeface="Poppins"/>
              </a:rPr>
              <a:t> job at a time. Set 1 to 8 lanes; every lane gets its own row on the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6370" y="3154680"/>
            <a:ext cx="378333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57850" y="3611880"/>
            <a:ext cx="822960" cy="128016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57850" y="4069080"/>
            <a:ext cx="29603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Poppins"/>
              </a:rPr>
              <a:t>Promised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7850" y="5120640"/>
            <a:ext cx="296037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A customer collects at 5pm. A job that </a:t>
            </a:r>
            <a:r>
              <a:rPr sz="1600" b="1">
                <a:solidFill>
                  <a:srgbClr val="5D6880"/>
                </a:solidFill>
                <a:latin typeface="Poppins"/>
              </a:rPr>
              <a:t>cannot</a:t>
            </a:r>
            <a:r>
              <a:rPr sz="1600" b="0">
                <a:solidFill>
                  <a:srgbClr val="5D6880"/>
                </a:solidFill>
                <a:latin typeface="Poppins"/>
              </a:rPr>
              <a:t> make its promise is reported, never quietly placed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58300" y="3154680"/>
            <a:ext cx="378333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669780" y="3611880"/>
            <a:ext cx="822960" cy="128016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69780" y="4069080"/>
            <a:ext cx="29603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Poppins"/>
              </a:rPr>
              <a:t>Rush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9780" y="5120640"/>
            <a:ext cx="296037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Mark a job urgent and it takes the </a:t>
            </a:r>
            <a:r>
              <a:rPr sz="1600" b="1">
                <a:solidFill>
                  <a:srgbClr val="8A5D05"/>
                </a:solidFill>
                <a:latin typeface="Poppins"/>
              </a:rPr>
              <a:t>front of the day</a:t>
            </a:r>
            <a:r>
              <a:rPr sz="1600" b="0">
                <a:solidFill>
                  <a:srgbClr val="5D6880"/>
                </a:solidFill>
                <a:latin typeface="Poppins"/>
              </a:rPr>
              <a:t>, ahead of everything else in its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70230" y="3154680"/>
            <a:ext cx="3783330" cy="5349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3681710" y="3611880"/>
            <a:ext cx="822960" cy="128016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681710" y="4069080"/>
            <a:ext cx="29603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Poppins"/>
              </a:rPr>
              <a:t>Fuel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81710" y="5120640"/>
            <a:ext cx="296037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5D6880"/>
                </a:solidFill>
                <a:latin typeface="Poppins"/>
              </a:rPr>
              <a:t>Diesel is bought by the litre. Cap the generator minutes and the planner </a:t>
            </a:r>
            <a:r>
              <a:rPr sz="1600" b="1">
                <a:solidFill>
                  <a:srgbClr val="8A5D05"/>
                </a:solidFill>
                <a:latin typeface="Poppins"/>
              </a:rPr>
              <a:t>will not exceed it</a:t>
            </a:r>
            <a:r>
              <a:rPr sz="16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07  · 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Proven, not claimed.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2651760"/>
            <a:ext cx="2377440" cy="118872"/>
          </a:xfrm>
          <a:prstGeom prst="rect">
            <a:avLst/>
          </a:prstGeom>
          <a:solidFill>
            <a:srgbClr val="F8C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mark-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0" y="864108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3108960"/>
            <a:ext cx="85953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1">
                <a:solidFill>
                  <a:srgbClr val="8A5D05"/>
                </a:solidFill>
                <a:latin typeface="Poppins"/>
              </a:rPr>
              <a:t>69 automated tests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Four rules are asserted for every plan, on hand-written cases and on all </a:t>
            </a:r>
            <a:r>
              <a:rPr sz="1900" b="1">
                <a:solidFill>
                  <a:srgbClr val="5D6880"/>
                </a:solidFill>
                <a:latin typeface="Poppins"/>
              </a:rPr>
              <a:t>25 published cases</a:t>
            </a:r>
            <a:r>
              <a:rPr sz="1900" b="0">
                <a:solidFill>
                  <a:srgbClr val="5D6880"/>
                </a:solidFill>
                <a:latin typeface="Poppins"/>
              </a:rPr>
              <a:t>: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· a grid job never overlaps a cut, by even one minute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· no two jobs overlap on the same machine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· generator minutes equal the time actually spent inside a cut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· every placement respects its ready and promised times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Writing the tests first found a real defect: the planner had been giving generator jobs the earliest slot instead of the cheapest, </a:t>
            </a:r>
            <a:r>
              <a:rPr sz="1900" b="1">
                <a:solidFill>
                  <a:srgbClr val="8A5D05"/>
                </a:solidFill>
                <a:latin typeface="Poppins"/>
              </a:rPr>
              <a:t>inflating the R4 total</a:t>
            </a:r>
            <a:r>
              <a:rPr sz="19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61320" y="3017520"/>
            <a:ext cx="649224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art-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291840"/>
            <a:ext cx="384048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18520" y="736092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5D6880"/>
                </a:solidFill>
                <a:latin typeface="Poppins"/>
              </a:rPr>
              <a:t>The other 36 are genuinely impossible — jobs longer than the whole day, or needing more uninterrupted cut-free time than exists.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08  ·  MEASURED, NOT GUESSED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Generator minutes, case by case.</a:t>
            </a:r>
          </a:p>
        </p:txBody>
      </p:sp>
      <p:pic>
        <p:nvPicPr>
          <p:cNvPr id="4" name="Picture 3" descr="chart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880360"/>
            <a:ext cx="15819120" cy="3934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7226128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1">
                <a:solidFill>
                  <a:srgbClr val="8A5D05"/>
                </a:solidFill>
                <a:latin typeface="Poppins"/>
              </a:rPr>
              <a:t>1,845 generator minutes</a:t>
            </a:r>
            <a:r>
              <a:rPr sz="1900" b="0">
                <a:solidFill>
                  <a:srgbClr val="5D6880"/>
                </a:solidFill>
                <a:latin typeface="Poppins"/>
              </a:rPr>
              <a:t> across 25 cases. Every number here comes from running the real engine over the organisers' own fixture — </a:t>
            </a:r>
            <a:r>
              <a:rPr sz="1900" b="1">
                <a:solidFill>
                  <a:srgbClr val="5D6880"/>
                </a:solidFill>
                <a:latin typeface="Poppins"/>
              </a:rPr>
              <a:t>no case was hand-picked</a:t>
            </a:r>
            <a:r>
              <a:rPr sz="1900" b="0">
                <a:solidFill>
                  <a:srgbClr val="5D6880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868680"/>
            <a:ext cx="1581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5D6880"/>
                </a:solidFill>
                <a:latin typeface="Poppins"/>
              </a:rPr>
              <a:t>09  · 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325880"/>
            <a:ext cx="1581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800" b="1">
                <a:solidFill>
                  <a:srgbClr val="111111"/>
                </a:solidFill>
                <a:latin typeface="Poppins"/>
              </a:rPr>
              <a:t>Try it yourself.</a:t>
            </a:r>
          </a:p>
        </p:txBody>
      </p:sp>
      <p:pic>
        <p:nvPicPr>
          <p:cNvPr id="4" name="Picture 3" descr="frame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34640"/>
            <a:ext cx="3077897" cy="6400800"/>
          </a:xfrm>
          <a:prstGeom prst="rect">
            <a:avLst/>
          </a:prstGeom>
        </p:spPr>
      </p:pic>
      <p:pic>
        <p:nvPicPr>
          <p:cNvPr id="5" name="Picture 4" descr="mark-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760" y="836676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31089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8A5D05"/>
                </a:solidFill>
                <a:latin typeface="Poppins"/>
              </a:rPr>
              <a:t>lsh26-t033-p01.vercel.app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4206240"/>
            <a:ext cx="96012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1">
                <a:solidFill>
                  <a:srgbClr val="5D6880"/>
                </a:solidFill>
                <a:latin typeface="Poppins"/>
              </a:rPr>
              <a:t>github.com/AuvroIslam/lsh26-t033-p01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Opens with no account and no key. Press </a:t>
            </a:r>
            <a:r>
              <a:rPr sz="1900" b="1">
                <a:solidFill>
                  <a:srgbClr val="5D6880"/>
                </a:solidFill>
                <a:latin typeface="Poppins"/>
              </a:rPr>
              <a:t>Load published sample data</a:t>
            </a:r>
            <a:r>
              <a:rPr sz="1900" b="0">
                <a:solidFill>
                  <a:srgbClr val="5D6880"/>
                </a:solidFill>
                <a:latin typeface="Poppins"/>
              </a:rPr>
              <a:t> and all 25 cases load; upload any file in the same shape to try your own.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900" b="0">
                <a:solidFill>
                  <a:srgbClr val="5D6880"/>
                </a:solidFill>
                <a:latin typeface="Poppins"/>
              </a:rPr>
              <a:t>Works on a phone. State is kept in the browser, and Reset restores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C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3931920"/>
            <a:ext cx="13716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0" b="1">
                <a:solidFill>
                  <a:srgbClr val="111111"/>
                </a:solidFill>
                <a:latin typeface="Poppins"/>
              </a:rPr>
              <a:t>Thank you.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6309360"/>
            <a:ext cx="2743200" cy="1463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34440" y="6766560"/>
            <a:ext cx="12801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Poppins"/>
              </a:rPr>
              <a:t>Team Logarithm</a:t>
            </a:r>
            <a:r>
              <a:rPr sz="2000" b="0">
                <a:solidFill>
                  <a:srgbClr val="111111"/>
                </a:solidFill>
                <a:latin typeface="Poppins"/>
              </a:rPr>
              <a:t>   ·   LSH26-T033   ·   P01 Load-Shedding Window Planner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Poppins"/>
              </a:rPr>
              <a:t>lsh26-t033-p01.vercel.app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